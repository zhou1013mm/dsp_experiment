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1" r:id="rId3"/>
    <p:sldId id="270" r:id="rId4"/>
    <p:sldId id="272" r:id="rId5"/>
    <p:sldId id="273" r:id="rId6"/>
    <p:sldId id="275" r:id="rId7"/>
    <p:sldId id="261" r:id="rId8"/>
    <p:sldId id="276" r:id="rId9"/>
    <p:sldId id="262" r:id="rId10"/>
    <p:sldId id="274" r:id="rId11"/>
    <p:sldId id="264" r:id="rId12"/>
    <p:sldId id="265" r:id="rId1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36728"/>
            <a:ext cx="103632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F4068989-D5BF-484D-840D-F6BB275C284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36882756-DF8B-4E1C-8613-D82DFE625E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5157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8721A02D-740A-4575-9DB4-6D6F0CD323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54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7D5C40F-AF1C-019B-AE4D-A9E564E3D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845" y="102528"/>
            <a:ext cx="2669307" cy="8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568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9A91D1-CE3F-42E5-8B93-E3E5ED4979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14F7C8D-2C9A-459D-A691-48EC20EBCF7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EAAF860-120F-4DDF-A00C-3B3EC7BC0D6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298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55F9E9A-3926-4F69-97EB-D970C7F11B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CB2E66-7656-498B-B623-E9DA79CD75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F5ED1919-44C3-4CB3-87A4-5FD8330B75D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060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93318D-6436-4C10-B64C-FF682397E0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4A2741B-9ECD-42B7-93FE-FEB0A11487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78433E01-347D-4CEB-834B-0BA1480F73A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73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C5C653F-3102-4FE5-A2BD-A5478CF179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D3C7F57-EB29-4241-BDCF-DBDD9BEA286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D1E1ECA-8932-454F-8143-4B280C96E92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34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30CC01-669D-4AE1-9883-6E2D2FAA8A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034F02-A3F4-4928-84A9-4C5A8569BE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1D20491-46BF-48C6-82ED-D4D3481AF06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07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FC6A1D2-9826-466A-82CF-577AD092A1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46EA4C-EAE7-48C8-ACE3-78E06FFDB9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71ECFDE8-A272-40DE-8BC0-C2A19831A15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12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7349EB-550C-4631-A6E0-93497C8810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413A653-BFA1-41D5-B07D-88152C45199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4652CA7C-89E4-46E8-9979-2456608CA31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84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42B62A-57AE-4B5E-9A50-6026F71C9F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619DCC1-CD62-4184-9D23-286D91BC66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86AE63C1-88AD-499F-8A99-55DFCF972C6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37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A06A260-0CE3-424E-A39E-F9A49AD30A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B4134D-7CDF-49CB-B9A9-B5C4A3D2C2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E90AA34-B120-49F8-9ABB-EB3040B0B8E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00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3ECE4C-6370-4DA5-875C-505E156EF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pPr/>
              <a:t>2026/9/24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2F81E2-C1CC-44EC-A29B-2007E4B33E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C3546E91-ADB4-4BD6-8230-E64A0850FDE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4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37724F-6D4B-4BE4-812E-14DF584813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BF862-5309-4B3F-8238-EEBAC8C84678}" type="datetimeFigureOut">
              <a:rPr lang="zh-CN" altLang="en-US" smtClean="0"/>
              <a:pPr/>
              <a:t>2026/9/24</a:t>
            </a:fld>
            <a:endParaRPr lang="zh-CN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CDC953D-96E1-4E0F-916F-E89BE5049A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AF237-5A90-4E9A-8A98-EF9A277D16F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31E6B604-3C58-4A35-BE57-93D88065926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69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E9E1E26-5533-45D9-94D8-BDA0B37150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5157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3CBF862-5309-4B3F-8238-EEBAC8C84678}" type="datetimeFigureOut">
              <a:rPr lang="zh-CN" altLang="en-US" smtClean="0"/>
              <a:pPr/>
              <a:t>2026/9/24</a:t>
            </a:fld>
            <a:endParaRPr lang="zh-CN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882C252-2D39-41CB-B4DA-3682BEE2F53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28AF237-5A90-4E9A-8A98-EF9A277D16F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9FD9ADAF-5ECC-4E0C-9542-22D0E7869E4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1C3AAC06-8B33-4057-9BC9-80A0FBBB4F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5828A52A-9092-42DB-8184-780CAA598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3" name="图片 2" descr="徽标&#10;&#10;描述已自动生成">
            <a:extLst>
              <a:ext uri="{FF2B5EF4-FFF2-40B4-BE49-F238E27FC236}">
                <a16:creationId xmlns:a16="http://schemas.microsoft.com/office/drawing/2014/main" id="{D66F43EA-E5BA-D134-0D30-EE0A008F44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24687"/>
            <a:ext cx="720080" cy="90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4667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aseline="0">
          <a:solidFill>
            <a:schemeClr val="bg2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楷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楷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楷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楷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楷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楷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楷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楷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baseline="0">
          <a:solidFill>
            <a:schemeClr val="bg2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aseline="0">
          <a:solidFill>
            <a:schemeClr val="bg2"/>
          </a:solidFill>
          <a:effectLst/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aseline="0">
          <a:solidFill>
            <a:schemeClr val="bg2"/>
          </a:solidFill>
          <a:effectLst/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baseline="0">
          <a:solidFill>
            <a:schemeClr val="bg2"/>
          </a:solidFill>
          <a:effectLst/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baseline="0">
          <a:solidFill>
            <a:schemeClr val="bg2"/>
          </a:solidFill>
          <a:effectLst/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B1-7421-4B73-9038-4D11B0B96463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CN" altLang="en-US" sz="5400" dirty="0"/>
              <a:t>数字信号处理实验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B2B30179-5F03-0570-AFAB-0E4216B64DDD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zh-CN" altLang="en-US" sz="3600" dirty="0"/>
              <a:t>任务</a:t>
            </a:r>
            <a:r>
              <a:rPr lang="en-US" altLang="zh-CN" sz="3600" dirty="0"/>
              <a:t>1</a:t>
            </a:r>
            <a:r>
              <a:rPr lang="zh-CN" altLang="en-US" sz="3600" dirty="0"/>
              <a:t>：</a:t>
            </a:r>
            <a:r>
              <a:rPr lang="en-US" altLang="zh-CN" sz="3600" dirty="0"/>
              <a:t>FIR</a:t>
            </a:r>
            <a:r>
              <a:rPr lang="zh-CN" altLang="en-US" sz="3600" dirty="0"/>
              <a:t>与</a:t>
            </a:r>
            <a:r>
              <a:rPr lang="en-US" altLang="zh-CN" sz="3600" dirty="0"/>
              <a:t>IIR</a:t>
            </a:r>
            <a:r>
              <a:rPr lang="zh-CN" altLang="en-US" sz="3600" dirty="0"/>
              <a:t>滤波器设计与实现</a:t>
            </a:r>
          </a:p>
        </p:txBody>
      </p:sp>
    </p:spTree>
    <p:extLst>
      <p:ext uri="{BB962C8B-B14F-4D97-AF65-F5344CB8AC3E}">
        <p14:creationId xmlns:p14="http://schemas.microsoft.com/office/powerpoint/2010/main" val="148408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B1-7421-4B73-9038-4D11B0B9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B2B30179-5F03-0570-AFAB-0E4216B6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000" dirty="0"/>
              <a:t>复习时域实现的</a:t>
            </a:r>
            <a:r>
              <a:rPr lang="en-US" altLang="zh-CN" sz="3000" dirty="0"/>
              <a:t>FIR</a:t>
            </a:r>
            <a:r>
              <a:rPr lang="zh-CN" altLang="en-US" sz="3000" dirty="0"/>
              <a:t>和</a:t>
            </a:r>
            <a:r>
              <a:rPr lang="en-US" altLang="zh-CN" sz="3000" dirty="0"/>
              <a:t>IIR</a:t>
            </a:r>
            <a:r>
              <a:rPr lang="zh-CN" altLang="en-US" sz="3000" dirty="0"/>
              <a:t>滤波器结构与实现方法</a:t>
            </a:r>
            <a:endParaRPr lang="en-US" altLang="zh-CN" sz="3000" dirty="0"/>
          </a:p>
          <a:p>
            <a:pPr>
              <a:lnSpc>
                <a:spcPct val="150000"/>
              </a:lnSpc>
            </a:pPr>
            <a:r>
              <a:rPr lang="zh-CN" altLang="en-US" sz="3000" dirty="0"/>
              <a:t>掌握低阶</a:t>
            </a:r>
            <a:r>
              <a:rPr lang="en-US" altLang="zh-CN" sz="3000" dirty="0"/>
              <a:t>FIR</a:t>
            </a:r>
            <a:r>
              <a:rPr lang="zh-CN" altLang="en-US" sz="3000" dirty="0"/>
              <a:t>的设计与实现要点</a:t>
            </a:r>
            <a:endParaRPr lang="en-US" altLang="zh-CN" sz="3000" dirty="0"/>
          </a:p>
          <a:p>
            <a:pPr>
              <a:lnSpc>
                <a:spcPct val="150000"/>
              </a:lnSpc>
            </a:pPr>
            <a:r>
              <a:rPr lang="zh-CN" altLang="en-US" sz="3000" dirty="0"/>
              <a:t>掌握低阶</a:t>
            </a:r>
            <a:r>
              <a:rPr lang="en-US" altLang="zh-CN" sz="3000" dirty="0"/>
              <a:t>IIR</a:t>
            </a:r>
            <a:r>
              <a:rPr lang="zh-CN" altLang="en-US" sz="3000" dirty="0"/>
              <a:t>的设计与实现要点</a:t>
            </a:r>
            <a:endParaRPr lang="en-US" altLang="zh-CN" sz="3000" dirty="0"/>
          </a:p>
          <a:p>
            <a:pPr>
              <a:lnSpc>
                <a:spcPct val="150000"/>
              </a:lnSpc>
            </a:pPr>
            <a:r>
              <a:rPr lang="zh-CN" altLang="en-US" sz="3000" dirty="0"/>
              <a:t>用</a:t>
            </a:r>
            <a:r>
              <a:rPr lang="en-US" altLang="zh-CN" sz="3000" dirty="0"/>
              <a:t>MATLAB</a:t>
            </a:r>
            <a:r>
              <a:rPr lang="zh-CN" altLang="en-US" sz="3000" dirty="0"/>
              <a:t>进行辅助设计</a:t>
            </a:r>
          </a:p>
          <a:p>
            <a:pPr>
              <a:lnSpc>
                <a:spcPct val="150000"/>
              </a:lnSpc>
            </a:pPr>
            <a:r>
              <a:rPr lang="zh-CN" altLang="en-US" sz="3000" dirty="0"/>
              <a:t>对比两类滤波器差异：幅频、相频、时域响应和计算复杂度等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24295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B1-7421-4B73-9038-4D11B0B9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实验内容与要求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B2B30179-5F03-0570-AFAB-0E4216B64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9831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FIR</a:t>
            </a:r>
            <a:r>
              <a:rPr lang="zh-CN" altLang="en-US" sz="2800" dirty="0"/>
              <a:t>：</a:t>
            </a:r>
            <a:r>
              <a:rPr lang="en-US" altLang="zh-CN" sz="2800" dirty="0"/>
              <a:t>31 </a:t>
            </a:r>
            <a:r>
              <a:rPr lang="zh-CN" altLang="en-US" sz="2800" dirty="0"/>
              <a:t>阶（滤波器长度 </a:t>
            </a:r>
            <a:r>
              <a:rPr lang="en-US" altLang="zh-CN" sz="2800" dirty="0"/>
              <a:t>32</a:t>
            </a:r>
            <a:r>
              <a:rPr lang="zh-CN" altLang="en-US" sz="2800" dirty="0"/>
              <a:t>），截止频率 </a:t>
            </a:r>
            <a:r>
              <a:rPr lang="en-US" altLang="zh-CN" sz="2800" dirty="0"/>
              <a:t>2 kHz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IIR</a:t>
            </a:r>
            <a:r>
              <a:rPr lang="zh-CN" altLang="en-US" sz="2800" dirty="0"/>
              <a:t>：</a:t>
            </a:r>
            <a:r>
              <a:rPr lang="en-US" altLang="zh-CN" sz="2800" dirty="0"/>
              <a:t>8 </a:t>
            </a:r>
            <a:r>
              <a:rPr lang="zh-CN" altLang="en-US" sz="2800" dirty="0"/>
              <a:t>阶（</a:t>
            </a:r>
            <a:r>
              <a:rPr lang="en-US" altLang="zh-CN" sz="2800" dirty="0"/>
              <a:t>4 </a:t>
            </a:r>
            <a:r>
              <a:rPr lang="zh-CN" altLang="en-US" sz="2800" dirty="0"/>
              <a:t>级 </a:t>
            </a:r>
            <a:r>
              <a:rPr lang="en-US" altLang="zh-CN" sz="2800" dirty="0"/>
              <a:t>2 </a:t>
            </a:r>
            <a:r>
              <a:rPr lang="zh-CN" altLang="en-US" sz="2800" dirty="0"/>
              <a:t>阶级联），截止频率 </a:t>
            </a:r>
            <a:r>
              <a:rPr lang="en-US" altLang="zh-CN" sz="2800" dirty="0"/>
              <a:t>2 kHz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通过分析输入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输出信号，比较滤波器的单位脉冲响应、幅频响应、相频、群延迟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报告格式：宋体 </a:t>
            </a:r>
            <a:r>
              <a:rPr lang="en-US" altLang="zh-CN" sz="2800" dirty="0"/>
              <a:t>+ Times New Roman</a:t>
            </a:r>
            <a:r>
              <a:rPr lang="zh-CN" altLang="en-US" sz="2800" dirty="0"/>
              <a:t>，</a:t>
            </a:r>
            <a:r>
              <a:rPr lang="en-US" altLang="zh-CN" sz="2800" dirty="0"/>
              <a:t>12 </a:t>
            </a:r>
            <a:r>
              <a:rPr lang="zh-CN" altLang="en-US" sz="2800" dirty="0"/>
              <a:t>号字，</a:t>
            </a:r>
            <a:r>
              <a:rPr lang="en-US" altLang="zh-CN" sz="2800" dirty="0"/>
              <a:t>1.5 </a:t>
            </a:r>
            <a:r>
              <a:rPr lang="zh-CN" altLang="en-US" sz="2800" dirty="0"/>
              <a:t>倍行距，包含原理图、关键代码、结果分</a:t>
            </a:r>
            <a:r>
              <a:rPr lang="en-US" altLang="zh-CN" sz="2800" dirty="0"/>
              <a:t>	</a:t>
            </a:r>
            <a:r>
              <a:rPr lang="zh-CN" altLang="en-US" sz="2800" dirty="0"/>
              <a:t>析等信息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FTP</a:t>
            </a:r>
            <a:r>
              <a:rPr lang="zh-CN" altLang="en-US" sz="2800" dirty="0"/>
              <a:t>：</a:t>
            </a:r>
            <a:r>
              <a:rPr lang="en-US" altLang="zh-CN" sz="2800" dirty="0"/>
              <a:t>ftp://dsp:dsp314159@114.212.236.104:22221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52331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B1-7421-4B73-9038-4D11B0B9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</a:t>
            </a:r>
            <a:r>
              <a:rPr lang="zh-CN" altLang="en-US" dirty="0"/>
              <a:t>滤波器原理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副标题 5">
                <a:extLst>
                  <a:ext uri="{FF2B5EF4-FFF2-40B4-BE49-F238E27FC236}">
                    <a16:creationId xmlns:a16="http://schemas.microsoft.com/office/drawing/2014/main" id="{B2B30179-5F03-0570-AFAB-0E4216B64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3931518"/>
                <a:ext cx="10972800" cy="259746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系统函数：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400" b="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优点：线性相位、固有稳定、设计简单（窗函数法、频率采样法）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缺点：为达到陡峭过渡带通常需要较高阶数 → 计算量大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设计目标与约束：通带宽度、过渡带、通带</a:t>
                </a:r>
                <a:r>
                  <a:rPr lang="en-US" altLang="zh-CN" sz="2400" dirty="0"/>
                  <a:t>/</a:t>
                </a:r>
                <a:r>
                  <a:rPr lang="zh-CN" altLang="en-US" sz="2400" dirty="0"/>
                  <a:t>阻带衰减、相位线性</a:t>
                </a:r>
              </a:p>
            </p:txBody>
          </p:sp>
        </mc:Choice>
        <mc:Fallback xmlns="">
          <p:sp>
            <p:nvSpPr>
              <p:cNvPr id="6" name="副标题 5">
                <a:extLst>
                  <a:ext uri="{FF2B5EF4-FFF2-40B4-BE49-F238E27FC236}">
                    <a16:creationId xmlns:a16="http://schemas.microsoft.com/office/drawing/2014/main" id="{B2B30179-5F03-0570-AFAB-0E4216B64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3931518"/>
                <a:ext cx="10972800" cy="2597468"/>
              </a:xfrm>
              <a:blipFill>
                <a:blip r:embed="rId2"/>
                <a:stretch>
                  <a:fillRect l="-222" b="-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9505EAEA-B529-46D8-CD08-E27EB9859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225" y="1683978"/>
            <a:ext cx="60515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54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B1-7421-4B73-9038-4D11B0B9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IIR</a:t>
            </a:r>
            <a:r>
              <a:rPr lang="zh-CN" altLang="en-US" dirty="0"/>
              <a:t>滤波器原理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副标题 5">
                <a:extLst>
                  <a:ext uri="{FF2B5EF4-FFF2-40B4-BE49-F238E27FC236}">
                    <a16:creationId xmlns:a16="http://schemas.microsoft.com/office/drawing/2014/main" id="{B2B30179-5F03-0570-AFAB-0E4216B64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3931518"/>
                <a:ext cx="10972800" cy="2597468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系统函数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级联结构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=0,1,…,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优点：用较低阶数实现陡峭幅度响应、运算量少、实现紧凑</a:t>
                </a:r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缺点：相位非线性（会产生相位失真）、需要注意稳定性（极点须在单位圆内）</a:t>
                </a:r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常用设计：巴特沃斯、切比雪夫、椭圆等</a:t>
                </a:r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结构：建议用二阶节（</a:t>
                </a:r>
                <a:r>
                  <a:rPr lang="en-US" altLang="zh-CN" sz="2400" dirty="0"/>
                  <a:t>SOS</a:t>
                </a:r>
                <a:r>
                  <a:rPr lang="zh-CN" altLang="en-US" sz="2400" dirty="0"/>
                  <a:t>）级联结构实现（数值稳定）</a:t>
                </a:r>
              </a:p>
            </p:txBody>
          </p:sp>
        </mc:Choice>
        <mc:Fallback xmlns="">
          <p:sp>
            <p:nvSpPr>
              <p:cNvPr id="6" name="副标题 5">
                <a:extLst>
                  <a:ext uri="{FF2B5EF4-FFF2-40B4-BE49-F238E27FC236}">
                    <a16:creationId xmlns:a16="http://schemas.microsoft.com/office/drawing/2014/main" id="{B2B30179-5F03-0570-AFAB-0E4216B64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3931518"/>
                <a:ext cx="10972800" cy="2597468"/>
              </a:xfrm>
              <a:blipFill>
                <a:blip r:embed="rId2"/>
                <a:stretch>
                  <a:fillRect l="-222" r="-2833"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52ED33F-6FEC-2DAD-70E7-C8DAA83CD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845" y="1322415"/>
            <a:ext cx="4232310" cy="246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B1-7421-4B73-9038-4D11B0B9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IIR</a:t>
            </a:r>
            <a:r>
              <a:rPr lang="zh-CN" altLang="en-US" dirty="0"/>
              <a:t>滤波器原理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副标题 5">
                <a:extLst>
                  <a:ext uri="{FF2B5EF4-FFF2-40B4-BE49-F238E27FC236}">
                    <a16:creationId xmlns:a16="http://schemas.microsoft.com/office/drawing/2014/main" id="{B2B30179-5F03-0570-AFAB-0E4216B64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3931518"/>
                <a:ext cx="10972800" cy="2597468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系统函数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级联结构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=0,1,…,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优点：用较低阶数实现陡峭幅度响应、运算量少、实现紧凑</a:t>
                </a:r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缺点：相位非线性（会产生相位失真）、需要注意稳定性（极点须在单位圆内）</a:t>
                </a:r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常用设计：巴特沃斯、切比雪夫、椭圆等</a:t>
                </a:r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结构：建议用二阶节（</a:t>
                </a:r>
                <a:r>
                  <a:rPr lang="en-US" altLang="zh-CN" sz="2400" dirty="0"/>
                  <a:t>SOS</a:t>
                </a:r>
                <a:r>
                  <a:rPr lang="zh-CN" altLang="en-US" sz="2400" dirty="0"/>
                  <a:t>）级联结构实现（数值稳定）</a:t>
                </a:r>
              </a:p>
            </p:txBody>
          </p:sp>
        </mc:Choice>
        <mc:Fallback xmlns="">
          <p:sp>
            <p:nvSpPr>
              <p:cNvPr id="6" name="副标题 5">
                <a:extLst>
                  <a:ext uri="{FF2B5EF4-FFF2-40B4-BE49-F238E27FC236}">
                    <a16:creationId xmlns:a16="http://schemas.microsoft.com/office/drawing/2014/main" id="{B2B30179-5F03-0570-AFAB-0E4216B64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3931518"/>
                <a:ext cx="10972800" cy="2597468"/>
              </a:xfrm>
              <a:blipFill>
                <a:blip r:embed="rId2"/>
                <a:stretch>
                  <a:fillRect l="-222" r="-2833"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28E44E4-7C4F-27B6-DE7C-D53901221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56" y="1282619"/>
            <a:ext cx="9970744" cy="264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72CB9A1-F698-DC39-C434-93D4CB9F4B24}"/>
              </a:ext>
            </a:extLst>
          </p:cNvPr>
          <p:cNvCxnSpPr>
            <a:cxnSpLocks/>
          </p:cNvCxnSpPr>
          <p:nvPr/>
        </p:nvCxnSpPr>
        <p:spPr>
          <a:xfrm flipH="1">
            <a:off x="5388796" y="3185401"/>
            <a:ext cx="816795" cy="90152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DC31DDA0-476F-B1A3-30F3-C7FF8A4A7813}"/>
              </a:ext>
            </a:extLst>
          </p:cNvPr>
          <p:cNvSpPr/>
          <p:nvPr/>
        </p:nvSpPr>
        <p:spPr>
          <a:xfrm>
            <a:off x="3345365" y="4235552"/>
            <a:ext cx="1132964" cy="597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BE9BD3-687A-0DB0-4A10-81A25DE06BC2}"/>
              </a:ext>
            </a:extLst>
          </p:cNvPr>
          <p:cNvSpPr/>
          <p:nvPr/>
        </p:nvSpPr>
        <p:spPr>
          <a:xfrm>
            <a:off x="4740019" y="4210700"/>
            <a:ext cx="1414202" cy="59770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ADAAB1F-4805-4361-5278-A59CA8519E00}"/>
              </a:ext>
            </a:extLst>
          </p:cNvPr>
          <p:cNvCxnSpPr/>
          <p:nvPr/>
        </p:nvCxnSpPr>
        <p:spPr>
          <a:xfrm>
            <a:off x="2074874" y="4289876"/>
            <a:ext cx="1199871" cy="3389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CF7F867-5EF2-C539-EC50-B4764D05B916}"/>
              </a:ext>
            </a:extLst>
          </p:cNvPr>
          <p:cNvSpPr txBox="1"/>
          <p:nvPr/>
        </p:nvSpPr>
        <p:spPr>
          <a:xfrm>
            <a:off x="6154221" y="28913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定点数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35701C-31AB-18DC-42C2-3823DCDF62A8}"/>
              </a:ext>
            </a:extLst>
          </p:cNvPr>
          <p:cNvSpPr txBox="1"/>
          <p:nvPr/>
        </p:nvSpPr>
        <p:spPr>
          <a:xfrm>
            <a:off x="1197710" y="40508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7DD2CD-1465-227C-2E48-758548E0C320}"/>
              </a:ext>
            </a:extLst>
          </p:cNvPr>
          <p:cNvSpPr/>
          <p:nvPr/>
        </p:nvSpPr>
        <p:spPr>
          <a:xfrm>
            <a:off x="5587739" y="5036293"/>
            <a:ext cx="1096660" cy="597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2FFE403-C92D-A25A-2B48-3A1E9E28EE50}"/>
              </a:ext>
            </a:extLst>
          </p:cNvPr>
          <p:cNvCxnSpPr>
            <a:cxnSpLocks/>
          </p:cNvCxnSpPr>
          <p:nvPr/>
        </p:nvCxnSpPr>
        <p:spPr>
          <a:xfrm flipH="1">
            <a:off x="6684399" y="4833257"/>
            <a:ext cx="1218722" cy="1505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23DF390-5DD4-DFA8-861D-4579B7D85597}"/>
              </a:ext>
            </a:extLst>
          </p:cNvPr>
          <p:cNvSpPr txBox="1"/>
          <p:nvPr/>
        </p:nvSpPr>
        <p:spPr>
          <a:xfrm>
            <a:off x="7969538" y="46144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1A4920A-59A3-892F-CBCC-B49B33263DA8}"/>
              </a:ext>
            </a:extLst>
          </p:cNvPr>
          <p:cNvSpPr/>
          <p:nvPr/>
        </p:nvSpPr>
        <p:spPr>
          <a:xfrm>
            <a:off x="3466023" y="5036293"/>
            <a:ext cx="1414202" cy="59770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2A24FC-BA18-99FE-A853-FBA441868E7C}"/>
              </a:ext>
            </a:extLst>
          </p:cNvPr>
          <p:cNvSpPr txBox="1"/>
          <p:nvPr/>
        </p:nvSpPr>
        <p:spPr>
          <a:xfrm>
            <a:off x="1197710" y="48434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定点数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85881CD-A4AF-F012-2BC9-D4F76101D6C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2074873" y="5028130"/>
            <a:ext cx="1310462" cy="36933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AE02863E-2C24-41D2-6F6B-9B565AFBD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代码注意事项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517FD8-EE40-4A25-AAC1-A23AADC82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57399"/>
            <a:ext cx="109728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((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NULL) &amp;&amp;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NULL))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float data;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pSrc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*)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*)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for(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AUDIO_BUFFER_SIZE / SAMPLE_SIZE;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data_left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  *(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pSrc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+ 0) / 8388608.0f;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data_right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  *(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pSrc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+ 2) / 8388608.0f;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……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*(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+ 0)  = (int)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data_left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* 8388608.0f);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*(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+ 2)  = (int)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data_right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8388608.0f);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</p:txBody>
      </p:sp>
      <p:sp>
        <p:nvSpPr>
          <p:cNvPr id="4" name="副标题 5">
            <a:extLst>
              <a:ext uri="{FF2B5EF4-FFF2-40B4-BE49-F238E27FC236}">
                <a16:creationId xmlns:a16="http://schemas.microsoft.com/office/drawing/2014/main" id="{DBA35CD6-4F2B-338A-814C-8494FA604B49}"/>
              </a:ext>
            </a:extLst>
          </p:cNvPr>
          <p:cNvSpPr txBox="1">
            <a:spLocks/>
          </p:cNvSpPr>
          <p:nvPr/>
        </p:nvSpPr>
        <p:spPr bwMode="auto">
          <a:xfrm>
            <a:off x="609600" y="1224002"/>
            <a:ext cx="10972800" cy="595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kern="0" dirty="0"/>
              <a:t>定点数转成浮点数</a:t>
            </a:r>
          </a:p>
        </p:txBody>
      </p:sp>
    </p:spTree>
    <p:extLst>
      <p:ext uri="{BB962C8B-B14F-4D97-AF65-F5344CB8AC3E}">
        <p14:creationId xmlns:p14="http://schemas.microsoft.com/office/powerpoint/2010/main" val="2330263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2210CFE-7B39-3700-C68B-301C8A1E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代码注意事项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8" name="副标题 5">
            <a:extLst>
              <a:ext uri="{FF2B5EF4-FFF2-40B4-BE49-F238E27FC236}">
                <a16:creationId xmlns:a16="http://schemas.microsoft.com/office/drawing/2014/main" id="{BAFE4B1E-BA32-EC64-932C-CC43FF61D2A5}"/>
              </a:ext>
            </a:extLst>
          </p:cNvPr>
          <p:cNvSpPr txBox="1">
            <a:spLocks/>
          </p:cNvSpPr>
          <p:nvPr/>
        </p:nvSpPr>
        <p:spPr bwMode="auto">
          <a:xfrm>
            <a:off x="609600" y="1224002"/>
            <a:ext cx="10972800" cy="595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kern="0" dirty="0"/>
              <a:t>循环队列实现与索引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C4F2934-2B87-4B5A-1B58-EFA4171D0DEF}"/>
              </a:ext>
            </a:extLst>
          </p:cNvPr>
          <p:cNvGrpSpPr/>
          <p:nvPr/>
        </p:nvGrpSpPr>
        <p:grpSpPr>
          <a:xfrm>
            <a:off x="3001432" y="1940191"/>
            <a:ext cx="6189135" cy="1493482"/>
            <a:chOff x="3001432" y="1981287"/>
            <a:chExt cx="6189135" cy="1493482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0B6F31A-BE52-CD8B-0C72-AE67E17EF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1432" y="1981287"/>
              <a:ext cx="6189135" cy="1008511"/>
            </a:xfrm>
            <a:prstGeom prst="rect">
              <a:avLst/>
            </a:prstGeom>
          </p:spPr>
        </p:pic>
        <p:sp>
          <p:nvSpPr>
            <p:cNvPr id="17" name="副标题 5">
              <a:extLst>
                <a:ext uri="{FF2B5EF4-FFF2-40B4-BE49-F238E27FC236}">
                  <a16:creationId xmlns:a16="http://schemas.microsoft.com/office/drawing/2014/main" id="{75080B46-AE83-5ADA-D848-342417F52E4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313700" y="3041509"/>
              <a:ext cx="3361362" cy="433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+mn-ea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+mn-ea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+mn-ea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+mn-ea"/>
                </a:defRPr>
              </a:lvl9pPr>
            </a:lstStyle>
            <a:p>
              <a:pPr marL="0" indent="0" algn="ctr">
                <a:lnSpc>
                  <a:spcPct val="110000"/>
                </a:lnSpc>
                <a:buNone/>
              </a:pPr>
              <a:r>
                <a:rPr lang="en-US" altLang="zh-CN" sz="1800" kern="0" dirty="0"/>
                <a:t>FIR</a:t>
              </a:r>
              <a:r>
                <a:rPr lang="zh-CN" altLang="en-US" sz="1800" kern="0" dirty="0"/>
                <a:t>滤波原始定义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464DA55-F583-6A3F-6F59-7BDD747D8CC1}"/>
              </a:ext>
            </a:extLst>
          </p:cNvPr>
          <p:cNvGrpSpPr/>
          <p:nvPr/>
        </p:nvGrpSpPr>
        <p:grpSpPr>
          <a:xfrm>
            <a:off x="3091182" y="3711535"/>
            <a:ext cx="6009633" cy="2848202"/>
            <a:chOff x="3091182" y="3429000"/>
            <a:chExt cx="6009633" cy="284820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F4142AD9-3082-20AE-09EF-9BC9D712D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1182" y="3429000"/>
              <a:ext cx="6009633" cy="2309149"/>
            </a:xfrm>
            <a:prstGeom prst="rect">
              <a:avLst/>
            </a:prstGeom>
          </p:spPr>
        </p:pic>
        <p:sp>
          <p:nvSpPr>
            <p:cNvPr id="18" name="副标题 5">
              <a:extLst>
                <a:ext uri="{FF2B5EF4-FFF2-40B4-BE49-F238E27FC236}">
                  <a16:creationId xmlns:a16="http://schemas.microsoft.com/office/drawing/2014/main" id="{2E614626-2B51-AE98-C87C-DFFE8423A81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313700" y="5843942"/>
              <a:ext cx="3361362" cy="433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aseline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+mn-ea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+mn-ea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+mn-ea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+mn-ea"/>
                </a:defRPr>
              </a:lvl9pPr>
            </a:lstStyle>
            <a:p>
              <a:pPr marL="0" indent="0" algn="ctr">
                <a:lnSpc>
                  <a:spcPct val="110000"/>
                </a:lnSpc>
                <a:buNone/>
              </a:pPr>
              <a:r>
                <a:rPr lang="zh-CN" altLang="en-US" sz="1800" kern="0" dirty="0"/>
                <a:t>基于循环队列实现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37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2210CFE-7B39-3700-C68B-301C8A1E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代码注意事项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517FD8-EE40-4A25-AAC1-A23AADC828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9286" y="2194560"/>
            <a:ext cx="10972800" cy="4206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float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data_array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[32];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data_array_cnt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data_array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data_array_cnt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data_array_cnt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data_array_cnt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 + 32) &amp; 0x1F;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FC50F2-86D8-0A58-A358-2BBDFF1A4A4B}"/>
              </a:ext>
            </a:extLst>
          </p:cNvPr>
          <p:cNvSpPr/>
          <p:nvPr/>
        </p:nvSpPr>
        <p:spPr>
          <a:xfrm>
            <a:off x="2350678" y="5405438"/>
            <a:ext cx="2372980" cy="414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8E2F35-13EC-CD9A-DE13-793AB293D31B}"/>
              </a:ext>
            </a:extLst>
          </p:cNvPr>
          <p:cNvSpPr/>
          <p:nvPr/>
        </p:nvSpPr>
        <p:spPr>
          <a:xfrm>
            <a:off x="2350678" y="4937016"/>
            <a:ext cx="4233002" cy="414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308780D-59D0-CD25-CC31-029C29C7E5CF}"/>
              </a:ext>
            </a:extLst>
          </p:cNvPr>
          <p:cNvCxnSpPr>
            <a:cxnSpLocks/>
          </p:cNvCxnSpPr>
          <p:nvPr/>
        </p:nvCxnSpPr>
        <p:spPr>
          <a:xfrm flipH="1">
            <a:off x="3895725" y="4297680"/>
            <a:ext cx="730250" cy="5265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507E9B4-F350-0FD0-81B2-06F04E24DA20}"/>
              </a:ext>
            </a:extLst>
          </p:cNvPr>
          <p:cNvSpPr txBox="1"/>
          <p:nvPr/>
        </p:nvSpPr>
        <p:spPr>
          <a:xfrm>
            <a:off x="4250623" y="3901201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数组，循环队列</a:t>
            </a:r>
          </a:p>
        </p:txBody>
      </p:sp>
      <p:sp>
        <p:nvSpPr>
          <p:cNvPr id="8" name="副标题 5">
            <a:extLst>
              <a:ext uri="{FF2B5EF4-FFF2-40B4-BE49-F238E27FC236}">
                <a16:creationId xmlns:a16="http://schemas.microsoft.com/office/drawing/2014/main" id="{BAFE4B1E-BA32-EC64-932C-CC43FF61D2A5}"/>
              </a:ext>
            </a:extLst>
          </p:cNvPr>
          <p:cNvSpPr txBox="1">
            <a:spLocks/>
          </p:cNvSpPr>
          <p:nvPr/>
        </p:nvSpPr>
        <p:spPr bwMode="auto">
          <a:xfrm>
            <a:off x="609600" y="1224002"/>
            <a:ext cx="10972800" cy="595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kern="0" dirty="0"/>
              <a:t>循环队列实现与索引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122413-03AE-E754-E860-BC4910BAD820}"/>
              </a:ext>
            </a:extLst>
          </p:cNvPr>
          <p:cNvSpPr txBox="1"/>
          <p:nvPr/>
        </p:nvSpPr>
        <p:spPr>
          <a:xfrm>
            <a:off x="4260850" y="632208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数组索引，倒计数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11915B8-6E84-E234-303B-81B566D070FE}"/>
              </a:ext>
            </a:extLst>
          </p:cNvPr>
          <p:cNvCxnSpPr>
            <a:cxnSpLocks/>
          </p:cNvCxnSpPr>
          <p:nvPr/>
        </p:nvCxnSpPr>
        <p:spPr>
          <a:xfrm flipH="1" flipV="1">
            <a:off x="3581772" y="5923528"/>
            <a:ext cx="633839" cy="61723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482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2210CFE-7B39-3700-C68B-301C8A1E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代码注意事项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8" name="副标题 5">
            <a:extLst>
              <a:ext uri="{FF2B5EF4-FFF2-40B4-BE49-F238E27FC236}">
                <a16:creationId xmlns:a16="http://schemas.microsoft.com/office/drawing/2014/main" id="{BAFE4B1E-BA32-EC64-932C-CC43FF61D2A5}"/>
              </a:ext>
            </a:extLst>
          </p:cNvPr>
          <p:cNvSpPr txBox="1">
            <a:spLocks/>
          </p:cNvSpPr>
          <p:nvPr/>
        </p:nvSpPr>
        <p:spPr bwMode="auto">
          <a:xfrm>
            <a:off x="609600" y="1224002"/>
            <a:ext cx="10972800" cy="1143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kern="0" dirty="0"/>
              <a:t>子函数实现，建立自己的</a:t>
            </a:r>
            <a:r>
              <a:rPr lang="en-US" altLang="zh-CN" sz="2400" kern="0" dirty="0"/>
              <a:t>c</a:t>
            </a:r>
            <a:r>
              <a:rPr lang="zh-CN" altLang="en-US" sz="2400" kern="0" dirty="0"/>
              <a:t>代码文件</a:t>
            </a:r>
            <a:endParaRPr lang="en-US" altLang="zh-CN" sz="2400" kern="0" dirty="0"/>
          </a:p>
          <a:p>
            <a:pPr>
              <a:lnSpc>
                <a:spcPct val="110000"/>
              </a:lnSpc>
            </a:pPr>
            <a:r>
              <a:rPr lang="en-US" altLang="zh-CN" sz="2400" kern="0" dirty="0"/>
              <a:t>FIR</a:t>
            </a:r>
            <a:r>
              <a:rPr lang="zh-CN" altLang="en-US" sz="2400" kern="0" dirty="0"/>
              <a:t>函数定义（推荐）：</a:t>
            </a:r>
            <a:endParaRPr lang="en-US" altLang="zh-CN" sz="2400" kern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698FD8-26E8-0552-199C-E38342D18E33}"/>
              </a:ext>
            </a:extLst>
          </p:cNvPr>
          <p:cNvSpPr txBox="1"/>
          <p:nvPr/>
        </p:nvSpPr>
        <p:spPr>
          <a:xfrm>
            <a:off x="1310640" y="4594306"/>
            <a:ext cx="9024310" cy="1594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en-US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IIR(float </a:t>
            </a:r>
            <a:r>
              <a:rPr lang="en-US" altLang="zh-CN" sz="1800" kern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x_n</a:t>
            </a: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float * </a:t>
            </a:r>
            <a:r>
              <a:rPr lang="en-US" altLang="zh-CN" sz="1800" kern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iir_coef</a:t>
            </a: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float * </a:t>
            </a:r>
            <a:r>
              <a:rPr lang="en-US" altLang="zh-CN" sz="1800" kern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data_buffer</a:t>
            </a: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……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return </a:t>
            </a:r>
            <a:r>
              <a:rPr lang="en-US" altLang="zh-CN" sz="1800" kern="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y_n</a:t>
            </a: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0EF082-65D0-7130-DEB3-770D04A72BE8}"/>
              </a:ext>
            </a:extLst>
          </p:cNvPr>
          <p:cNvSpPr txBox="1"/>
          <p:nvPr/>
        </p:nvSpPr>
        <p:spPr>
          <a:xfrm>
            <a:off x="1310640" y="2223946"/>
            <a:ext cx="9800435" cy="1594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en-US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FIR(float </a:t>
            </a:r>
            <a:r>
              <a:rPr lang="en-US" altLang="zh-CN" sz="18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x_n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float * </a:t>
            </a:r>
            <a:r>
              <a:rPr lang="en-US" altLang="zh-CN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fir_coef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,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 * </a:t>
            </a:r>
            <a:r>
              <a:rPr lang="en-US" altLang="zh-CN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data_buffer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int * </a:t>
            </a:r>
            <a:r>
              <a:rPr lang="en-US" altLang="zh-CN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data_buffer_cnt</a:t>
            </a: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……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return </a:t>
            </a:r>
            <a:r>
              <a:rPr lang="en-US" altLang="zh-CN" sz="18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y_n</a:t>
            </a: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4" name="副标题 5">
            <a:extLst>
              <a:ext uri="{FF2B5EF4-FFF2-40B4-BE49-F238E27FC236}">
                <a16:creationId xmlns:a16="http://schemas.microsoft.com/office/drawing/2014/main" id="{E4B99BCE-8B19-85E4-4FC3-188EB1B39FFF}"/>
              </a:ext>
            </a:extLst>
          </p:cNvPr>
          <p:cNvSpPr txBox="1">
            <a:spLocks/>
          </p:cNvSpPr>
          <p:nvPr/>
        </p:nvSpPr>
        <p:spPr bwMode="auto">
          <a:xfrm>
            <a:off x="609600" y="3980576"/>
            <a:ext cx="10972800" cy="702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kern="0" dirty="0"/>
              <a:t>IIR</a:t>
            </a:r>
            <a:r>
              <a:rPr lang="zh-CN" altLang="en-US" sz="2400" kern="0" dirty="0"/>
              <a:t>函数定义（推荐） ：</a:t>
            </a:r>
            <a:endParaRPr lang="en-US" altLang="zh-CN" sz="2400" kern="0" dirty="0"/>
          </a:p>
        </p:txBody>
      </p:sp>
    </p:spTree>
    <p:extLst>
      <p:ext uri="{BB962C8B-B14F-4D97-AF65-F5344CB8AC3E}">
        <p14:creationId xmlns:p14="http://schemas.microsoft.com/office/powerpoint/2010/main" val="1113885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27BDC-991B-4595-AA92-853A3203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统计函数的时钟周期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8FE5FBB-3F54-4FEC-978A-80D559DDF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919" y="2167464"/>
            <a:ext cx="7544816" cy="4525963"/>
          </a:xfrm>
        </p:spPr>
      </p:pic>
      <p:sp>
        <p:nvSpPr>
          <p:cNvPr id="3" name="副标题 5">
            <a:extLst>
              <a:ext uri="{FF2B5EF4-FFF2-40B4-BE49-F238E27FC236}">
                <a16:creationId xmlns:a16="http://schemas.microsoft.com/office/drawing/2014/main" id="{C360D7B9-43DC-A4B6-82C4-C7D96C8B4E86}"/>
              </a:ext>
            </a:extLst>
          </p:cNvPr>
          <p:cNvSpPr txBox="1">
            <a:spLocks/>
          </p:cNvSpPr>
          <p:nvPr/>
        </p:nvSpPr>
        <p:spPr bwMode="auto">
          <a:xfrm>
            <a:off x="609600" y="1417638"/>
            <a:ext cx="10972800" cy="644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kern="0" dirty="0"/>
              <a:t>CCES</a:t>
            </a:r>
            <a:r>
              <a:rPr lang="zh-CN" altLang="en-US" sz="2400" kern="0" dirty="0"/>
              <a:t>软件中的工程设置</a:t>
            </a:r>
            <a:endParaRPr lang="en-US" altLang="zh-CN" sz="2400" kern="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8FAF65-5C9C-A0AC-3C41-CCCF0A16E3E9}"/>
              </a:ext>
            </a:extLst>
          </p:cNvPr>
          <p:cNvSpPr/>
          <p:nvPr/>
        </p:nvSpPr>
        <p:spPr>
          <a:xfrm>
            <a:off x="2769963" y="3276267"/>
            <a:ext cx="495114" cy="192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AFD48D-0DE6-4FD2-E522-B68EBD4A4B07}"/>
              </a:ext>
            </a:extLst>
          </p:cNvPr>
          <p:cNvSpPr/>
          <p:nvPr/>
        </p:nvSpPr>
        <p:spPr>
          <a:xfrm>
            <a:off x="3782493" y="4246821"/>
            <a:ext cx="941163" cy="192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EB138F-64D0-B69D-C990-CEF109633E16}"/>
              </a:ext>
            </a:extLst>
          </p:cNvPr>
          <p:cNvSpPr/>
          <p:nvPr/>
        </p:nvSpPr>
        <p:spPr>
          <a:xfrm>
            <a:off x="5349364" y="2904065"/>
            <a:ext cx="1076464" cy="152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020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9EACE-7E36-4C28-92D0-B1D6DF91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统计函数的时钟周期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31772DC-1CC9-4BC7-A604-046C9E005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078" y="2326815"/>
            <a:ext cx="6177843" cy="4012178"/>
          </a:xfrm>
          <a:prstGeom prst="rect">
            <a:avLst/>
          </a:prstGeom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1FD300E2-2F8F-E5A8-81E8-ED5AEB68A5C1}"/>
              </a:ext>
            </a:extLst>
          </p:cNvPr>
          <p:cNvSpPr txBox="1">
            <a:spLocks/>
          </p:cNvSpPr>
          <p:nvPr/>
        </p:nvSpPr>
        <p:spPr bwMode="auto">
          <a:xfrm>
            <a:off x="609600" y="1417638"/>
            <a:ext cx="10972800" cy="644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aseline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kern="0" dirty="0"/>
              <a:t>测试代码</a:t>
            </a:r>
            <a:endParaRPr lang="en-US" altLang="zh-CN" sz="2400" kern="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41CA15-DEDA-B2A4-C3F3-AD986603CC59}"/>
              </a:ext>
            </a:extLst>
          </p:cNvPr>
          <p:cNvSpPr/>
          <p:nvPr/>
        </p:nvSpPr>
        <p:spPr>
          <a:xfrm>
            <a:off x="3112863" y="4236631"/>
            <a:ext cx="2191504" cy="1397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2089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">
  <a:themeElements>
    <a:clrScheme name="lecture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lecture">
      <a:majorFont>
        <a:latin typeface="Arial"/>
        <a:ea typeface="华文楷体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cture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L01_绪论</Template>
  <TotalTime>671</TotalTime>
  <Words>1048</Words>
  <Application>Microsoft Office PowerPoint</Application>
  <PresentationFormat>宽屏</PresentationFormat>
  <Paragraphs>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微软雅黑</vt:lpstr>
      <vt:lpstr>Arial</vt:lpstr>
      <vt:lpstr>Cambria Math</vt:lpstr>
      <vt:lpstr>Garamond</vt:lpstr>
      <vt:lpstr>Times New Roman</vt:lpstr>
      <vt:lpstr>Wingdings</vt:lpstr>
      <vt:lpstr>lecture</vt:lpstr>
      <vt:lpstr>数字信号处理实验</vt:lpstr>
      <vt:lpstr>实验目的</vt:lpstr>
      <vt:lpstr>实验内容与要求</vt:lpstr>
      <vt:lpstr>FIR滤波器原理</vt:lpstr>
      <vt:lpstr>IIR滤波器原理</vt:lpstr>
      <vt:lpstr>IIR滤波器原理</vt:lpstr>
      <vt:lpstr>代码注意事项1</vt:lpstr>
      <vt:lpstr>代码注意事项2</vt:lpstr>
      <vt:lpstr>代码注意事项2</vt:lpstr>
      <vt:lpstr>代码注意事项3</vt:lpstr>
      <vt:lpstr>统计函数的时钟周期1</vt:lpstr>
      <vt:lpstr>统计函数的时钟周期2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安装步骤</dc:title>
  <dc:creator>chen kai</dc:creator>
  <cp:lastModifiedBy>杨洲 黄</cp:lastModifiedBy>
  <cp:revision>89</cp:revision>
  <dcterms:created xsi:type="dcterms:W3CDTF">2020-09-11T09:59:42Z</dcterms:created>
  <dcterms:modified xsi:type="dcterms:W3CDTF">2026-09-24T00:43:57Z</dcterms:modified>
</cp:coreProperties>
</file>